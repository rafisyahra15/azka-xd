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2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3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3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3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416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4480560"/>
            <a:ext cx="12188952" cy="2377440"/>
          </a:xfrm>
          <a:prstGeom prst="rect"/>
          <a:solidFill>
            <a:srgbClr val="6B3F2A"/>
          </a:solidFill>
        </p:spPr>
      </p:sp>
      <p:sp>
        <p:nvSpPr>
          <p:cNvPr id="1048577" name="Shape 1"/>
          <p:cNvSpPr/>
          <p:nvPr/>
        </p:nvSpPr>
        <p:spPr>
          <a:xfrm>
            <a:off x="9875520" y="-1188720"/>
            <a:ext cx="4572000" cy="4572000"/>
          </a:xfrm>
          <a:prstGeom prst="ellipse"/>
          <a:solidFill>
            <a:srgbClr val="8A9A5B">
              <a:alpha val="25000"/>
            </a:srgbClr>
          </a:solidFill>
        </p:spPr>
      </p:sp>
      <p:sp>
        <p:nvSpPr>
          <p:cNvPr id="1048578" name="Shape 2"/>
          <p:cNvSpPr/>
          <p:nvPr/>
        </p:nvSpPr>
        <p:spPr>
          <a:xfrm>
            <a:off x="-1371600" y="5212080"/>
            <a:ext cx="3657600" cy="3657600"/>
          </a:xfrm>
          <a:prstGeom prst="ellipse"/>
          <a:solidFill>
            <a:srgbClr val="C97B3F">
              <a:alpha val="30000"/>
            </a:srgbClr>
          </a:solidFill>
        </p:spPr>
      </p:sp>
      <p:sp>
        <p:nvSpPr>
          <p:cNvPr id="1048579" name="Text 3"/>
          <p:cNvSpPr/>
          <p:nvPr/>
        </p:nvSpPr>
        <p:spPr>
          <a:xfrm>
            <a:off x="731520" y="640080"/>
            <a:ext cx="105156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kern="0" lang="en-US" spc="20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ILMU PERTANIAN</a:t>
            </a:r>
            <a:endParaRPr dirty="0" sz="1600" lang="en-US"/>
          </a:p>
        </p:txBody>
      </p:sp>
      <p:sp>
        <p:nvSpPr>
          <p:cNvPr id="1048580" name="Text 4"/>
          <p:cNvSpPr/>
          <p:nvPr/>
        </p:nvSpPr>
        <p:spPr>
          <a:xfrm>
            <a:off x="731520" y="1188720"/>
            <a:ext cx="10515600" cy="21031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ts val="4000"/>
              </a:lnSpc>
              <a:buNone/>
            </a:pPr>
            <a:r>
              <a:rPr b="1" dirty="0" sz="3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Lingkungan: Konflik Agraria dalam</a:t>
            </a:r>
            <a:endParaRPr dirty="0" sz="3400" lang="en-US"/>
          </a:p>
          <a:p>
            <a:pPr indent="0" marL="0">
              <a:lnSpc>
                <a:spcPts val="4000"/>
              </a:lnSpc>
              <a:buNone/>
            </a:pPr>
            <a:r>
              <a:rPr b="1" dirty="0" sz="3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Ekspansi Perkebunan Sawit di Indonesia</a:t>
            </a:r>
            <a:endParaRPr dirty="0" sz="3400" lang="en-US"/>
          </a:p>
        </p:txBody>
      </p:sp>
      <p:sp>
        <p:nvSpPr>
          <p:cNvPr id="1048581" name="Text 5"/>
          <p:cNvSpPr/>
          <p:nvPr/>
        </p:nvSpPr>
        <p:spPr>
          <a:xfrm>
            <a:off x="731520" y="3291840"/>
            <a:ext cx="10058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i="1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Kajian Artikel Ilmiah (2022–2026) — Studi Kasus Perebutan Lahan di Kalimantan Barat</a:t>
            </a:r>
            <a:endParaRPr dirty="0" sz="1600" lang="en-US"/>
          </a:p>
        </p:txBody>
      </p:sp>
      <p:sp>
        <p:nvSpPr>
          <p:cNvPr id="1048582" name="Text 6"/>
          <p:cNvSpPr/>
          <p:nvPr/>
        </p:nvSpPr>
        <p:spPr>
          <a:xfrm>
            <a:off x="731520" y="4846320"/>
            <a:ext cx="7315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oleh: 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062641023669</a:t>
            </a:r>
            <a:endParaRPr dirty="0" sz="1400" lang="en-US"/>
          </a:p>
        </p:txBody>
      </p:sp>
      <p:sp>
        <p:nvSpPr>
          <p:cNvPr id="1048583" name="Text 7"/>
          <p:cNvSpPr/>
          <p:nvPr/>
        </p:nvSpPr>
        <p:spPr>
          <a:xfrm>
            <a:off x="731520" y="5257800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Mata Kuliah Pengantar Ilmu Pertanian</a:t>
            </a:r>
            <a:endParaRPr dirty="0" sz="1200" lang="en-US"/>
          </a:p>
        </p:txBody>
      </p:sp>
      <p:sp>
        <p:nvSpPr>
          <p:cNvPr id="1048584" name="Text 8"/>
          <p:cNvSpPr/>
          <p:nvPr/>
        </p:nvSpPr>
        <p:spPr>
          <a:xfrm>
            <a:off x="731520" y="5943600"/>
            <a:ext cx="106070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utama: Rahmania, H., Luthfi, H.M., Hadinugroho, D.S., Nurdin, &amp; Jumaynah, F. (2025). Politik Agraria dan Konflik Perkebunan Sawit: Studi Kasus Perebutan Lahan di Kalimantan Barat. Jurnal ISO: Jurnal Ilmu Sosial, Politik dan Humaniora, 6(1), 10. https://doi.org/10.53697/iso.v6i1.3381</a:t>
            </a:r>
            <a:endParaRPr dirty="0" sz="950" lang="en-US"/>
          </a:p>
        </p:txBody>
      </p:sp>
      <p:sp>
        <p:nvSpPr>
          <p:cNvPr id="1048585" name="Text 9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dirty="0" sz="10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Shape 0"/>
          <p:cNvSpPr/>
          <p:nvPr/>
        </p:nvSpPr>
        <p:spPr>
          <a:xfrm>
            <a:off x="0" y="0"/>
            <a:ext cx="12188952" cy="1051560"/>
          </a:xfrm>
          <a:prstGeom prst="rect"/>
          <a:solidFill>
            <a:srgbClr val="6B3F2A"/>
          </a:solidFill>
        </p:spPr>
      </p:sp>
      <p:sp>
        <p:nvSpPr>
          <p:cNvPr id="1048590" name="Text 1"/>
          <p:cNvSpPr/>
          <p:nvPr/>
        </p:nvSpPr>
        <p:spPr>
          <a:xfrm>
            <a:off x="548640" y="182880"/>
            <a:ext cx="73152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dirty="0" sz="3200" lang="en-US"/>
          </a:p>
        </p:txBody>
      </p:sp>
      <p:sp>
        <p:nvSpPr>
          <p:cNvPr id="1048591" name="Shape 2"/>
          <p:cNvSpPr/>
          <p:nvPr/>
        </p:nvSpPr>
        <p:spPr>
          <a:xfrm>
            <a:off x="548640" y="1417320"/>
            <a:ext cx="6766560" cy="4846320"/>
          </a:xfrm>
          <a:prstGeom prst="roundRect">
            <a:avLst>
              <a:gd name="adj" fmla="val 2264"/>
            </a:avLst>
          </a:prstGeom>
          <a:solidFill>
            <a:srgbClr val="E7E8D1"/>
          </a:solidFill>
        </p:spPr>
      </p:sp>
      <p:sp>
        <p:nvSpPr>
          <p:cNvPr id="1048592" name="Text 3"/>
          <p:cNvSpPr/>
          <p:nvPr/>
        </p:nvSpPr>
        <p:spPr>
          <a:xfrm>
            <a:off x="868680" y="1691640"/>
            <a:ext cx="6309360" cy="429768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400"/>
              </a:spcAft>
              <a:buSzPct val="100000"/>
              <a:buChar char="•"/>
            </a:pPr>
            <a:r>
              <a:rPr dirty="0" sz="14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Perkebunan sawit rakyat &amp; korporasi terus meluas di berbagai wilayah Indonesia (Kalimantan, Sumatra, Papua).</a:t>
            </a:r>
            <a:endParaRPr dirty="0" sz="1450" lang="en-US"/>
          </a:p>
          <a:p>
            <a:pPr indent="-342900" marL="342900">
              <a:spcAft>
                <a:spcPts val="1400"/>
              </a:spcAft>
              <a:buSzPct val="100000"/>
              <a:buChar char="•"/>
            </a:pPr>
            <a:r>
              <a:rPr dirty="0" sz="14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ini kerap bersinggungan dengan tanah adat/tanah masyarakat, memicu konflik agraria berkepanjangan.</a:t>
            </a:r>
            <a:endParaRPr dirty="0" sz="1450" lang="en-US"/>
          </a:p>
          <a:p>
            <a:pPr indent="-342900" marL="342900">
              <a:spcAft>
                <a:spcPts val="1400"/>
              </a:spcAft>
              <a:buSzPct val="100000"/>
              <a:buChar char="•"/>
            </a:pPr>
            <a:r>
              <a:rPr dirty="0" sz="14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Konsorsium Pembaruan Agraria mencatat konflik agraria di sektor perkebunan sawit terus berulang setiap tahun di berbagai provinsi.</a:t>
            </a:r>
            <a:endParaRPr dirty="0" sz="1450" lang="en-US"/>
          </a:p>
          <a:p>
            <a:pPr indent="-342900" marL="342900">
              <a:buSzPct val="100000"/>
              <a:buChar char="•"/>
            </a:pPr>
            <a:r>
              <a:rPr dirty="0" sz="14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 ini relevan dengan konsep lingkungan: keseimbangan antara pembangunan ekonomi, hak masyarakat, dan kelestarian sumber daya agraria.</a:t>
            </a:r>
            <a:endParaRPr dirty="0" sz="1450" lang="en-US"/>
          </a:p>
        </p:txBody>
      </p:sp>
      <p:sp>
        <p:nvSpPr>
          <p:cNvPr id="1048593" name="Shape 4"/>
          <p:cNvSpPr/>
          <p:nvPr/>
        </p:nvSpPr>
        <p:spPr>
          <a:xfrm>
            <a:off x="7543800" y="141732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6B3F2A"/>
          </a:solidFill>
        </p:spPr>
      </p:sp>
      <p:sp>
        <p:nvSpPr>
          <p:cNvPr id="1048594" name="Text 5"/>
          <p:cNvSpPr/>
          <p:nvPr/>
        </p:nvSpPr>
        <p:spPr>
          <a:xfrm>
            <a:off x="7818120" y="1645920"/>
            <a:ext cx="35661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10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PENTING?</a:t>
            </a:r>
            <a:endParaRPr dirty="0" sz="1300" lang="en-US"/>
          </a:p>
        </p:txBody>
      </p:sp>
      <p:sp>
        <p:nvSpPr>
          <p:cNvPr id="1048595" name="Text 6"/>
          <p:cNvSpPr/>
          <p:nvPr/>
        </p:nvSpPr>
        <p:spPr>
          <a:xfrm>
            <a:off x="7818120" y="2103120"/>
            <a:ext cx="3566160" cy="20116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i="1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 lahan sawit menyangkut hajat hidup jutaan petani &amp; masyarakat adat, sekaligus menjadi indikator tata kelola lingkungan dan keadilan agraria nasional.</a:t>
            </a:r>
            <a:endParaRPr dirty="0" sz="1350" lang="en-US"/>
          </a:p>
        </p:txBody>
      </p:sp>
      <p:sp>
        <p:nvSpPr>
          <p:cNvPr id="1048596" name="Shape 7"/>
          <p:cNvSpPr/>
          <p:nvPr/>
        </p:nvSpPr>
        <p:spPr>
          <a:xfrm>
            <a:off x="7818120" y="4297680"/>
            <a:ext cx="3566160" cy="0"/>
          </a:xfrm>
          <a:prstGeom prst="line"/>
          <a:noFill/>
          <a:ln w="19050">
            <a:solidFill>
              <a:srgbClr val="C97B3F"/>
            </a:solidFill>
            <a:prstDash val="solid"/>
          </a:ln>
        </p:spPr>
      </p:sp>
      <p:sp>
        <p:nvSpPr>
          <p:cNvPr id="1048597" name="Text 8"/>
          <p:cNvSpPr/>
          <p:nvPr/>
        </p:nvSpPr>
        <p:spPr>
          <a:xfrm>
            <a:off x="7818120" y="4434840"/>
            <a:ext cx="1645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C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dirty="0" sz="4000" lang="en-US"/>
          </a:p>
        </p:txBody>
      </p:sp>
      <p:sp>
        <p:nvSpPr>
          <p:cNvPr id="1048598" name="Text 9"/>
          <p:cNvSpPr/>
          <p:nvPr/>
        </p:nvSpPr>
        <p:spPr>
          <a:xfrm>
            <a:off x="7818120" y="5212080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lahan baru sawit (1990–2010) berasal dari konversi hutan (Nurlhida, 2024)</a:t>
            </a:r>
            <a:endParaRPr dirty="0" sz="1050" lang="en-US"/>
          </a:p>
        </p:txBody>
      </p:sp>
      <p:sp>
        <p:nvSpPr>
          <p:cNvPr id="1048599" name="Text 10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dirty="0" sz="1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hape 0"/>
          <p:cNvSpPr/>
          <p:nvPr/>
        </p:nvSpPr>
        <p:spPr>
          <a:xfrm>
            <a:off x="0" y="0"/>
            <a:ext cx="12188952" cy="1051560"/>
          </a:xfrm>
          <a:prstGeom prst="rect"/>
          <a:solidFill>
            <a:srgbClr val="6B3F2A"/>
          </a:solidFill>
        </p:spPr>
      </p:sp>
      <p:sp>
        <p:nvSpPr>
          <p:cNvPr id="1048604" name="Text 1"/>
          <p:cNvSpPr/>
          <p:nvPr/>
        </p:nvSpPr>
        <p:spPr>
          <a:xfrm>
            <a:off x="548640" y="182880"/>
            <a:ext cx="10058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&amp; Rumusan Masalah Penelitian</a:t>
            </a:r>
            <a:endParaRPr dirty="0" sz="2800" lang="en-US"/>
          </a:p>
        </p:txBody>
      </p:sp>
      <p:sp>
        <p:nvSpPr>
          <p:cNvPr id="1048605" name="Shape 2"/>
          <p:cNvSpPr/>
          <p:nvPr/>
        </p:nvSpPr>
        <p:spPr>
          <a:xfrm>
            <a:off x="64008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7E8D1"/>
          </a:solidFill>
        </p:spPr>
      </p:sp>
      <p:sp>
        <p:nvSpPr>
          <p:cNvPr id="1048606" name="Shape 3"/>
          <p:cNvSpPr/>
          <p:nvPr/>
        </p:nvSpPr>
        <p:spPr>
          <a:xfrm>
            <a:off x="914400" y="2011680"/>
            <a:ext cx="822960" cy="822960"/>
          </a:xfrm>
          <a:prstGeom prst="ellipse"/>
          <a:solidFill>
            <a:srgbClr val="C97B3F"/>
          </a:solidFill>
        </p:spPr>
      </p:sp>
      <p:sp>
        <p:nvSpPr>
          <p:cNvPr id="1048607" name="Text 4"/>
          <p:cNvSpPr/>
          <p:nvPr/>
        </p:nvSpPr>
        <p:spPr>
          <a:xfrm>
            <a:off x="914400" y="2011680"/>
            <a:ext cx="82296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dirty="0" sz="2600" lang="en-US"/>
          </a:p>
        </p:txBody>
      </p:sp>
      <p:sp>
        <p:nvSpPr>
          <p:cNvPr id="1048608" name="Text 5"/>
          <p:cNvSpPr/>
          <p:nvPr/>
        </p:nvSpPr>
        <p:spPr>
          <a:xfrm>
            <a:off x="914400" y="3017520"/>
            <a:ext cx="2971800" cy="2148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4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dinamika politik agraria dalam ekspansi perkebunan sawit di Kalimantan Barat</a:t>
            </a:r>
            <a:endParaRPr dirty="0" sz="1400" lang="en-US"/>
          </a:p>
        </p:txBody>
      </p:sp>
      <p:sp>
        <p:nvSpPr>
          <p:cNvPr id="1048609" name="Shape 6"/>
          <p:cNvSpPr/>
          <p:nvPr/>
        </p:nvSpPr>
        <p:spPr>
          <a:xfrm>
            <a:off x="443484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7E8D1"/>
          </a:solidFill>
        </p:spPr>
      </p:sp>
      <p:sp>
        <p:nvSpPr>
          <p:cNvPr id="1048610" name="Shape 7"/>
          <p:cNvSpPr/>
          <p:nvPr/>
        </p:nvSpPr>
        <p:spPr>
          <a:xfrm>
            <a:off x="4709160" y="2011680"/>
            <a:ext cx="822960" cy="822960"/>
          </a:xfrm>
          <a:prstGeom prst="ellipse"/>
          <a:solidFill>
            <a:srgbClr val="C97B3F"/>
          </a:solidFill>
        </p:spPr>
      </p:sp>
      <p:sp>
        <p:nvSpPr>
          <p:cNvPr id="1048611" name="Text 8"/>
          <p:cNvSpPr/>
          <p:nvPr/>
        </p:nvSpPr>
        <p:spPr>
          <a:xfrm>
            <a:off x="4709160" y="2011680"/>
            <a:ext cx="82296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dirty="0" sz="2600" lang="en-US"/>
          </a:p>
        </p:txBody>
      </p:sp>
      <p:sp>
        <p:nvSpPr>
          <p:cNvPr id="1048612" name="Text 9"/>
          <p:cNvSpPr/>
          <p:nvPr/>
        </p:nvSpPr>
        <p:spPr>
          <a:xfrm>
            <a:off x="4709160" y="3017520"/>
            <a:ext cx="2971800" cy="2148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4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faktor pemicu konflik antara masyarakat, pemerintah, dan perusahaan</a:t>
            </a:r>
            <a:endParaRPr dirty="0" sz="1400" lang="en-US"/>
          </a:p>
        </p:txBody>
      </p:sp>
      <p:sp>
        <p:nvSpPr>
          <p:cNvPr id="1048613" name="Shape 10"/>
          <p:cNvSpPr/>
          <p:nvPr/>
        </p:nvSpPr>
        <p:spPr>
          <a:xfrm>
            <a:off x="822960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7E8D1"/>
          </a:solidFill>
        </p:spPr>
      </p:sp>
      <p:sp>
        <p:nvSpPr>
          <p:cNvPr id="1048614" name="Shape 11"/>
          <p:cNvSpPr/>
          <p:nvPr/>
        </p:nvSpPr>
        <p:spPr>
          <a:xfrm>
            <a:off x="8503920" y="2011680"/>
            <a:ext cx="822960" cy="822960"/>
          </a:xfrm>
          <a:prstGeom prst="ellipse"/>
          <a:solidFill>
            <a:srgbClr val="C97B3F"/>
          </a:solidFill>
        </p:spPr>
      </p:sp>
      <p:sp>
        <p:nvSpPr>
          <p:cNvPr id="1048615" name="Text 12"/>
          <p:cNvSpPr/>
          <p:nvPr/>
        </p:nvSpPr>
        <p:spPr>
          <a:xfrm>
            <a:off x="8503920" y="2011680"/>
            <a:ext cx="82296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dirty="0" sz="2600" lang="en-US"/>
          </a:p>
        </p:txBody>
      </p:sp>
      <p:sp>
        <p:nvSpPr>
          <p:cNvPr id="1048616" name="Text 13"/>
          <p:cNvSpPr/>
          <p:nvPr/>
        </p:nvSpPr>
        <p:spPr>
          <a:xfrm>
            <a:off x="8503920" y="3017520"/>
            <a:ext cx="2971800" cy="2148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4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peran pemerintah daerah dalam proses penyelesaian konflik lahan</a:t>
            </a:r>
            <a:endParaRPr dirty="0" sz="1400" lang="en-US"/>
          </a:p>
        </p:txBody>
      </p:sp>
      <p:sp>
        <p:nvSpPr>
          <p:cNvPr id="1048617" name="Shape 14"/>
          <p:cNvSpPr/>
          <p:nvPr/>
        </p:nvSpPr>
        <p:spPr>
          <a:xfrm>
            <a:off x="640080" y="548640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3E2416"/>
          </a:solidFill>
        </p:spPr>
      </p:sp>
      <p:sp>
        <p:nvSpPr>
          <p:cNvPr id="1048618" name="Text 15"/>
          <p:cNvSpPr/>
          <p:nvPr/>
        </p:nvSpPr>
        <p:spPr>
          <a:xfrm>
            <a:off x="868680" y="5623560"/>
            <a:ext cx="1046988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C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 utama: </a:t>
            </a: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relasi kuasa antara negara, korporasi, dan masyarakat lokal membentuk pola konflik agraria di area konsesi sawit?</a:t>
            </a:r>
            <a:endParaRPr dirty="0" sz="1400" lang="en-US"/>
          </a:p>
        </p:txBody>
      </p:sp>
      <p:sp>
        <p:nvSpPr>
          <p:cNvPr id="1048619" name="Text 16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dirty="0" sz="10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Shape 0"/>
          <p:cNvSpPr/>
          <p:nvPr/>
        </p:nvSpPr>
        <p:spPr>
          <a:xfrm>
            <a:off x="0" y="0"/>
            <a:ext cx="12188952" cy="1051560"/>
          </a:xfrm>
          <a:prstGeom prst="rect"/>
          <a:solidFill>
            <a:srgbClr val="6B3F2A"/>
          </a:solidFill>
        </p:spPr>
      </p:sp>
      <p:sp>
        <p:nvSpPr>
          <p:cNvPr id="1048624" name="Text 1"/>
          <p:cNvSpPr/>
          <p:nvPr/>
        </p:nvSpPr>
        <p:spPr>
          <a:xfrm>
            <a:off x="548640" y="182880"/>
            <a:ext cx="10058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 Penelitian (Jurnal Rujukan)</a:t>
            </a:r>
            <a:endParaRPr dirty="0" sz="2800" lang="en-US"/>
          </a:p>
        </p:txBody>
      </p:sp>
      <p:sp>
        <p:nvSpPr>
          <p:cNvPr id="1048625" name="Shape 2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7E8D1"/>
          </a:solidFill>
        </p:spPr>
      </p:sp>
      <p:sp>
        <p:nvSpPr>
          <p:cNvPr id="1048626" name="Shape 3"/>
          <p:cNvSpPr/>
          <p:nvPr/>
        </p:nvSpPr>
        <p:spPr>
          <a:xfrm>
            <a:off x="640080" y="1737360"/>
            <a:ext cx="109728" cy="1051560"/>
          </a:xfrm>
          <a:prstGeom prst="rect"/>
          <a:solidFill>
            <a:srgbClr val="C97B3F"/>
          </a:solidFill>
        </p:spPr>
      </p:sp>
      <p:sp>
        <p:nvSpPr>
          <p:cNvPr id="1048627" name="Text 4"/>
          <p:cNvSpPr/>
          <p:nvPr/>
        </p:nvSpPr>
        <p:spPr>
          <a:xfrm>
            <a:off x="960120" y="1737360"/>
            <a:ext cx="2377440" cy="10515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3E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Pendekatan</a:t>
            </a:r>
            <a:endParaRPr dirty="0" sz="1600" lang="en-US"/>
          </a:p>
        </p:txBody>
      </p:sp>
      <p:sp>
        <p:nvSpPr>
          <p:cNvPr id="1048628" name="Text 5"/>
          <p:cNvSpPr/>
          <p:nvPr/>
        </p:nvSpPr>
        <p:spPr>
          <a:xfrm>
            <a:off x="3474720" y="1737360"/>
            <a:ext cx="7772400" cy="10515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Kualitatif deskriptif</a:t>
            </a:r>
            <a:endParaRPr dirty="0" sz="1450" lang="en-US"/>
          </a:p>
        </p:txBody>
      </p:sp>
      <p:sp>
        <p:nvSpPr>
          <p:cNvPr id="1048629" name="Shape 6"/>
          <p:cNvSpPr/>
          <p:nvPr/>
        </p:nvSpPr>
        <p:spPr>
          <a:xfrm>
            <a:off x="640080" y="2926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3F1E4"/>
          </a:solidFill>
        </p:spPr>
      </p:sp>
      <p:sp>
        <p:nvSpPr>
          <p:cNvPr id="1048630" name="Shape 7"/>
          <p:cNvSpPr/>
          <p:nvPr/>
        </p:nvSpPr>
        <p:spPr>
          <a:xfrm>
            <a:off x="640080" y="2926080"/>
            <a:ext cx="109728" cy="1051560"/>
          </a:xfrm>
          <a:prstGeom prst="rect"/>
          <a:solidFill>
            <a:srgbClr val="C97B3F"/>
          </a:solidFill>
        </p:spPr>
      </p:sp>
      <p:sp>
        <p:nvSpPr>
          <p:cNvPr id="1048631" name="Text 8"/>
          <p:cNvSpPr/>
          <p:nvPr/>
        </p:nvSpPr>
        <p:spPr>
          <a:xfrm>
            <a:off x="960120" y="2926080"/>
            <a:ext cx="2377440" cy="10515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3E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</a:t>
            </a:r>
            <a:endParaRPr dirty="0" sz="1600" lang="en-US"/>
          </a:p>
        </p:txBody>
      </p:sp>
      <p:sp>
        <p:nvSpPr>
          <p:cNvPr id="1048632" name="Text 9"/>
          <p:cNvSpPr/>
          <p:nvPr/>
        </p:nvSpPr>
        <p:spPr>
          <a:xfrm>
            <a:off x="3474720" y="2926080"/>
            <a:ext cx="7772400" cy="10515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literatur / kepustakaan</a:t>
            </a:r>
            <a:endParaRPr dirty="0" sz="1450" lang="en-US"/>
          </a:p>
        </p:txBody>
      </p:sp>
      <p:sp>
        <p:nvSpPr>
          <p:cNvPr id="1048633" name="Shape 10"/>
          <p:cNvSpPr/>
          <p:nvPr/>
        </p:nvSpPr>
        <p:spPr>
          <a:xfrm>
            <a:off x="640080" y="4114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7E8D1"/>
          </a:solidFill>
        </p:spPr>
      </p:sp>
      <p:sp>
        <p:nvSpPr>
          <p:cNvPr id="1048634" name="Shape 11"/>
          <p:cNvSpPr/>
          <p:nvPr/>
        </p:nvSpPr>
        <p:spPr>
          <a:xfrm>
            <a:off x="640080" y="4114800"/>
            <a:ext cx="109728" cy="1051560"/>
          </a:xfrm>
          <a:prstGeom prst="rect"/>
          <a:solidFill>
            <a:srgbClr val="C97B3F"/>
          </a:solidFill>
        </p:spPr>
      </p:sp>
      <p:sp>
        <p:nvSpPr>
          <p:cNvPr id="1048635" name="Text 12"/>
          <p:cNvSpPr/>
          <p:nvPr/>
        </p:nvSpPr>
        <p:spPr>
          <a:xfrm>
            <a:off x="960120" y="4114800"/>
            <a:ext cx="2377440" cy="10515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3E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Data</a:t>
            </a:r>
            <a:endParaRPr dirty="0" sz="1600" lang="en-US"/>
          </a:p>
        </p:txBody>
      </p:sp>
      <p:sp>
        <p:nvSpPr>
          <p:cNvPr id="1048636" name="Text 13"/>
          <p:cNvSpPr/>
          <p:nvPr/>
        </p:nvSpPr>
        <p:spPr>
          <a:xfrm>
            <a:off x="3474720" y="4114800"/>
            <a:ext cx="7772400" cy="10515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akademik, laporan LSM, dokumen kebijakan</a:t>
            </a:r>
            <a:endParaRPr dirty="0" sz="1450" lang="en-US"/>
          </a:p>
        </p:txBody>
      </p:sp>
      <p:sp>
        <p:nvSpPr>
          <p:cNvPr id="1048637" name="Shape 14"/>
          <p:cNvSpPr/>
          <p:nvPr/>
        </p:nvSpPr>
        <p:spPr>
          <a:xfrm>
            <a:off x="640080" y="5303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3F1E4"/>
          </a:solidFill>
        </p:spPr>
      </p:sp>
      <p:sp>
        <p:nvSpPr>
          <p:cNvPr id="1048638" name="Shape 15"/>
          <p:cNvSpPr/>
          <p:nvPr/>
        </p:nvSpPr>
        <p:spPr>
          <a:xfrm>
            <a:off x="640080" y="5303520"/>
            <a:ext cx="109728" cy="1051560"/>
          </a:xfrm>
          <a:prstGeom prst="rect"/>
          <a:solidFill>
            <a:srgbClr val="C97B3F"/>
          </a:solidFill>
        </p:spPr>
      </p:sp>
      <p:sp>
        <p:nvSpPr>
          <p:cNvPr id="1048639" name="Text 16"/>
          <p:cNvSpPr/>
          <p:nvPr/>
        </p:nvSpPr>
        <p:spPr>
          <a:xfrm>
            <a:off x="960120" y="5303520"/>
            <a:ext cx="2377440" cy="10515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3E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Fokus Wilayah</a:t>
            </a:r>
            <a:endParaRPr dirty="0" sz="1600" lang="en-US"/>
          </a:p>
        </p:txBody>
      </p:sp>
      <p:sp>
        <p:nvSpPr>
          <p:cNvPr id="1048640" name="Text 17"/>
          <p:cNvSpPr/>
          <p:nvPr/>
        </p:nvSpPr>
        <p:spPr>
          <a:xfrm>
            <a:off x="3474720" y="5303520"/>
            <a:ext cx="7772400" cy="10515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Kalimantan Barat (kasus perebutan lahan sawit)</a:t>
            </a:r>
            <a:endParaRPr dirty="0" sz="1450" lang="en-US"/>
          </a:p>
        </p:txBody>
      </p:sp>
      <p:sp>
        <p:nvSpPr>
          <p:cNvPr id="1048641" name="Text 18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dirty="0" sz="10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2416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ext 0"/>
          <p:cNvSpPr/>
          <p:nvPr/>
        </p:nvSpPr>
        <p:spPr>
          <a:xfrm>
            <a:off x="548640" y="365760"/>
            <a:ext cx="109728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Konsep: Politik Agraria &amp; Kontrol Lahan</a:t>
            </a:r>
            <a:endParaRPr dirty="0" sz="2800" lang="en-US"/>
          </a:p>
        </p:txBody>
      </p:sp>
      <p:sp>
        <p:nvSpPr>
          <p:cNvPr id="1048646" name="Shape 1"/>
          <p:cNvSpPr/>
          <p:nvPr/>
        </p:nvSpPr>
        <p:spPr>
          <a:xfrm>
            <a:off x="548640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6B3F2A"/>
          </a:solidFill>
        </p:spPr>
      </p:sp>
      <p:sp>
        <p:nvSpPr>
          <p:cNvPr id="1048647" name="Shape 2"/>
          <p:cNvSpPr/>
          <p:nvPr/>
        </p:nvSpPr>
        <p:spPr>
          <a:xfrm>
            <a:off x="1920240" y="1737360"/>
            <a:ext cx="822960" cy="822960"/>
          </a:xfrm>
          <a:prstGeom prst="ellipse"/>
          <a:solidFill>
            <a:srgbClr val="C97B3F"/>
          </a:solidFill>
        </p:spPr>
      </p:sp>
      <p:sp>
        <p:nvSpPr>
          <p:cNvPr id="1048648" name="Text 3"/>
          <p:cNvSpPr/>
          <p:nvPr/>
        </p:nvSpPr>
        <p:spPr>
          <a:xfrm>
            <a:off x="777240" y="2743200"/>
            <a:ext cx="315468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Control / Access</a:t>
            </a:r>
            <a:endParaRPr dirty="0" sz="1600" lang="en-US"/>
          </a:p>
        </p:txBody>
      </p:sp>
      <p:sp>
        <p:nvSpPr>
          <p:cNvPr id="1048649" name="Text 4"/>
          <p:cNvSpPr/>
          <p:nvPr/>
        </p:nvSpPr>
        <p:spPr>
          <a:xfrm>
            <a:off x="777240" y="3566160"/>
            <a:ext cx="3154680" cy="21945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Peluso &amp; Lund (2011); Ribot &amp; Peluso (2003) — akses terhadap lahan dibentuk oleh relasi kuasa, bukan hanya hak formal</a:t>
            </a:r>
            <a:endParaRPr dirty="0" sz="1200" lang="en-US"/>
          </a:p>
        </p:txBody>
      </p:sp>
      <p:sp>
        <p:nvSpPr>
          <p:cNvPr id="1048650" name="Shape 5"/>
          <p:cNvSpPr/>
          <p:nvPr/>
        </p:nvSpPr>
        <p:spPr>
          <a:xfrm>
            <a:off x="4389120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6B3F2A"/>
          </a:solidFill>
        </p:spPr>
      </p:sp>
      <p:sp>
        <p:nvSpPr>
          <p:cNvPr id="1048651" name="Shape 6"/>
          <p:cNvSpPr/>
          <p:nvPr/>
        </p:nvSpPr>
        <p:spPr>
          <a:xfrm>
            <a:off x="5760720" y="1737360"/>
            <a:ext cx="822960" cy="822960"/>
          </a:xfrm>
          <a:prstGeom prst="ellipse"/>
          <a:solidFill>
            <a:srgbClr val="C97B3F"/>
          </a:solidFill>
        </p:spPr>
      </p:sp>
      <p:sp>
        <p:nvSpPr>
          <p:cNvPr id="1048652" name="Text 7"/>
          <p:cNvSpPr/>
          <p:nvPr/>
        </p:nvSpPr>
        <p:spPr>
          <a:xfrm>
            <a:off x="4617720" y="2743200"/>
            <a:ext cx="315468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Adverse Incorporation</a:t>
            </a:r>
            <a:endParaRPr dirty="0" sz="1600" lang="en-US"/>
          </a:p>
        </p:txBody>
      </p:sp>
      <p:sp>
        <p:nvSpPr>
          <p:cNvPr id="1048653" name="Text 8"/>
          <p:cNvSpPr/>
          <p:nvPr/>
        </p:nvSpPr>
        <p:spPr>
          <a:xfrm>
            <a:off x="4617720" y="3566160"/>
            <a:ext cx="3154680" cy="21945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McCarthy (2010) — petani kecil dilibatkan dalam rantai sawit namun pada posisi tawar yang lemah</a:t>
            </a:r>
            <a:endParaRPr dirty="0" sz="1200" lang="en-US"/>
          </a:p>
        </p:txBody>
      </p:sp>
      <p:sp>
        <p:nvSpPr>
          <p:cNvPr id="1048654" name="Shape 9"/>
          <p:cNvSpPr/>
          <p:nvPr/>
        </p:nvSpPr>
        <p:spPr>
          <a:xfrm>
            <a:off x="8229600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6B3F2A"/>
          </a:solidFill>
        </p:spPr>
      </p:sp>
      <p:sp>
        <p:nvSpPr>
          <p:cNvPr id="1048655" name="Shape 10"/>
          <p:cNvSpPr/>
          <p:nvPr/>
        </p:nvSpPr>
        <p:spPr>
          <a:xfrm>
            <a:off x="9601200" y="1737360"/>
            <a:ext cx="822960" cy="822960"/>
          </a:xfrm>
          <a:prstGeom prst="ellipse"/>
          <a:solidFill>
            <a:srgbClr val="C97B3F"/>
          </a:solidFill>
        </p:spPr>
      </p:sp>
      <p:sp>
        <p:nvSpPr>
          <p:cNvPr id="1048656" name="Text 11"/>
          <p:cNvSpPr/>
          <p:nvPr/>
        </p:nvSpPr>
        <p:spPr>
          <a:xfrm>
            <a:off x="8458200" y="2743200"/>
            <a:ext cx="315468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of Exclusion</a:t>
            </a:r>
            <a:endParaRPr dirty="0" sz="1600" lang="en-US"/>
          </a:p>
        </p:txBody>
      </p:sp>
      <p:sp>
        <p:nvSpPr>
          <p:cNvPr id="1048657" name="Text 12"/>
          <p:cNvSpPr/>
          <p:nvPr/>
        </p:nvSpPr>
        <p:spPr>
          <a:xfrm>
            <a:off x="8458200" y="3566160"/>
            <a:ext cx="3154680" cy="21945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Hall, Hirsch &amp; Li (2011) — negara &amp; korporasi mengeklaim lahan melalui regulasi, pasar, dan kekerasan simbolik/legal</a:t>
            </a:r>
            <a:endParaRPr dirty="0" sz="1200" lang="en-US"/>
          </a:p>
        </p:txBody>
      </p:sp>
      <p:sp>
        <p:nvSpPr>
          <p:cNvPr id="1048658" name="Text 13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dirty="0" sz="10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Shape 0"/>
          <p:cNvSpPr/>
          <p:nvPr/>
        </p:nvSpPr>
        <p:spPr>
          <a:xfrm>
            <a:off x="0" y="0"/>
            <a:ext cx="12188952" cy="1051560"/>
          </a:xfrm>
          <a:prstGeom prst="rect"/>
          <a:solidFill>
            <a:srgbClr val="6B3F2A"/>
          </a:solidFill>
        </p:spPr>
      </p:sp>
      <p:sp>
        <p:nvSpPr>
          <p:cNvPr id="1048663" name="Text 1"/>
          <p:cNvSpPr/>
          <p:nvPr/>
        </p:nvSpPr>
        <p:spPr>
          <a:xfrm>
            <a:off x="548640" y="182880"/>
            <a:ext cx="10058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1 — Pemicu Konflik Struktural</a:t>
            </a:r>
            <a:endParaRPr dirty="0" sz="2800" lang="en-US"/>
          </a:p>
        </p:txBody>
      </p:sp>
      <p:sp>
        <p:nvSpPr>
          <p:cNvPr id="1048664" name="Shape 2"/>
          <p:cNvSpPr/>
          <p:nvPr/>
        </p:nvSpPr>
        <p:spPr>
          <a:xfrm>
            <a:off x="548640" y="141732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E7E8D1"/>
          </a:solidFill>
        </p:spPr>
      </p:sp>
      <p:sp>
        <p:nvSpPr>
          <p:cNvPr id="1048665" name="Text 3"/>
          <p:cNvSpPr/>
          <p:nvPr/>
        </p:nvSpPr>
        <p:spPr>
          <a:xfrm>
            <a:off x="822960" y="1645920"/>
            <a:ext cx="45720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akar masalah utama</a:t>
            </a:r>
            <a:endParaRPr dirty="0" sz="1500" lang="en-US"/>
          </a:p>
        </p:txBody>
      </p:sp>
      <p:sp>
        <p:nvSpPr>
          <p:cNvPr id="1048666" name="Text 4"/>
          <p:cNvSpPr/>
          <p:nvPr/>
        </p:nvSpPr>
        <p:spPr>
          <a:xfrm>
            <a:off x="822960" y="2194560"/>
            <a:ext cx="4572000" cy="384048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1400"/>
              </a:spcAft>
              <a:buSzPct val="100000"/>
              <a:buChar char="•"/>
            </a:pPr>
            <a:r>
              <a:rPr dirty="0" sz="14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Tumpang tindih perizinan konsesi lahan</a:t>
            </a:r>
            <a:endParaRPr dirty="0" sz="1400" lang="en-US"/>
          </a:p>
          <a:p>
            <a:pPr indent="-342900" marL="342900">
              <a:spcAft>
                <a:spcPts val="1400"/>
              </a:spcAft>
              <a:buSzPct val="100000"/>
              <a:buChar char="•"/>
            </a:pPr>
            <a:r>
              <a:rPr dirty="0" sz="14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Minimnya partisipasi bermakna masyarakat dalam proses pemberian izin</a:t>
            </a:r>
            <a:endParaRPr dirty="0" sz="1400" lang="en-US"/>
          </a:p>
          <a:p>
            <a:pPr indent="-342900" marL="342900">
              <a:buSzPct val="100000"/>
              <a:buChar char="•"/>
            </a:pPr>
            <a:r>
              <a:rPr dirty="0" sz="14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Ketidaktransparanan skema kemitraan perusahaan–petani</a:t>
            </a:r>
            <a:endParaRPr dirty="0" sz="1400" lang="en-US"/>
          </a:p>
        </p:txBody>
      </p:sp>
      <p:sp>
        <p:nvSpPr>
          <p:cNvPr id="1048667" name="Shape 5"/>
          <p:cNvSpPr/>
          <p:nvPr/>
        </p:nvSpPr>
        <p:spPr>
          <a:xfrm>
            <a:off x="5943600" y="1417320"/>
            <a:ext cx="5715000" cy="4846320"/>
          </a:xfrm>
          <a:prstGeom prst="roundRect">
            <a:avLst>
              <a:gd name="adj" fmla="val 2264"/>
            </a:avLst>
          </a:prstGeom>
          <a:solidFill>
            <a:srgbClr val="8A9A5B">
              <a:alpha val="85000"/>
            </a:srgbClr>
          </a:solidFill>
        </p:spPr>
      </p:sp>
      <p:sp>
        <p:nvSpPr>
          <p:cNvPr id="1048668" name="Text 6"/>
          <p:cNvSpPr/>
          <p:nvPr/>
        </p:nvSpPr>
        <p:spPr>
          <a:xfrm>
            <a:off x="6263640" y="1737360"/>
            <a:ext cx="5120640" cy="23774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600" i="1" lang="en-US">
                <a:solidFill>
                  <a:srgbClr val="3E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“Konflik lahan dipicu oleh tumpang tindih perizinan, minimnya partisipasi bermakna masyarakat, serta ketidaktransparanan skema kemitraan yang menyebabkan ketidaksetaraan posisi tawar.”</a:t>
            </a:r>
            <a:endParaRPr dirty="0" sz="1600" lang="en-US"/>
          </a:p>
        </p:txBody>
      </p:sp>
      <p:sp>
        <p:nvSpPr>
          <p:cNvPr id="1048669" name="Text 7"/>
          <p:cNvSpPr/>
          <p:nvPr/>
        </p:nvSpPr>
        <p:spPr>
          <a:xfrm>
            <a:off x="6263640" y="4206240"/>
            <a:ext cx="51206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Rahmania dkk. (2025)</a:t>
            </a:r>
            <a:endParaRPr dirty="0" sz="1200" lang="en-US"/>
          </a:p>
        </p:txBody>
      </p:sp>
      <p:sp>
        <p:nvSpPr>
          <p:cNvPr id="1048670" name="Shape 8"/>
          <p:cNvSpPr/>
          <p:nvPr/>
        </p:nvSpPr>
        <p:spPr>
          <a:xfrm>
            <a:off x="6263640" y="4709160"/>
            <a:ext cx="5120640" cy="0"/>
          </a:xfrm>
          <a:prstGeom prst="line"/>
          <a:noFill/>
          <a:ln w="12700">
            <a:solidFill>
              <a:srgbClr val="3E2416"/>
            </a:solidFill>
            <a:prstDash val="solid"/>
          </a:ln>
        </p:spPr>
      </p:sp>
      <p:sp>
        <p:nvSpPr>
          <p:cNvPr id="1048671" name="Text 9"/>
          <p:cNvSpPr/>
          <p:nvPr/>
        </p:nvSpPr>
        <p:spPr>
          <a:xfrm>
            <a:off x="6263640" y="4892040"/>
            <a:ext cx="5120640" cy="11887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Akibatnya: posisi tawar masyarakat lokal jauh lebih lemah dibanding korporasi dalam negosiasi lahan.</a:t>
            </a:r>
            <a:endParaRPr dirty="0" sz="1300" lang="en-US"/>
          </a:p>
        </p:txBody>
      </p:sp>
      <p:sp>
        <p:nvSpPr>
          <p:cNvPr id="1048672" name="Text 10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dirty="0" sz="10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hape 0"/>
          <p:cNvSpPr/>
          <p:nvPr/>
        </p:nvSpPr>
        <p:spPr>
          <a:xfrm>
            <a:off x="0" y="0"/>
            <a:ext cx="12188952" cy="1051560"/>
          </a:xfrm>
          <a:prstGeom prst="rect"/>
          <a:solidFill>
            <a:srgbClr val="6B3F2A"/>
          </a:solidFill>
        </p:spPr>
      </p:sp>
      <p:sp>
        <p:nvSpPr>
          <p:cNvPr id="1048677" name="Text 1"/>
          <p:cNvSpPr/>
          <p:nvPr/>
        </p:nvSpPr>
        <p:spPr>
          <a:xfrm>
            <a:off x="548640" y="182880"/>
            <a:ext cx="109728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2 — Status Tanah Adat &amp; Legitimasi Negara</a:t>
            </a:r>
            <a:endParaRPr dirty="0" sz="2600" lang="en-US"/>
          </a:p>
        </p:txBody>
      </p:sp>
      <p:sp>
        <p:nvSpPr>
          <p:cNvPr id="1048678" name="Shape 2"/>
          <p:cNvSpPr/>
          <p:nvPr/>
        </p:nvSpPr>
        <p:spPr>
          <a:xfrm>
            <a:off x="54864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E7E8D1"/>
          </a:solidFill>
        </p:spPr>
      </p:sp>
      <p:sp>
        <p:nvSpPr>
          <p:cNvPr id="1048679" name="Text 3"/>
          <p:cNvSpPr/>
          <p:nvPr/>
        </p:nvSpPr>
        <p:spPr>
          <a:xfrm>
            <a:off x="822960" y="1645920"/>
            <a:ext cx="45720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Masyarakat Adat</a:t>
            </a:r>
            <a:endParaRPr dirty="0" sz="1500" lang="en-US"/>
          </a:p>
        </p:txBody>
      </p:sp>
      <p:sp>
        <p:nvSpPr>
          <p:cNvPr id="1048680" name="Text 4"/>
          <p:cNvSpPr/>
          <p:nvPr/>
        </p:nvSpPr>
        <p:spPr>
          <a:xfrm>
            <a:off x="822960" y="2057400"/>
            <a:ext cx="4663440" cy="1463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tanah adat tidak pasti secara hukum → posisi subordinat dalam sengketa lahan</a:t>
            </a:r>
            <a:endParaRPr dirty="0" sz="1350" lang="en-US"/>
          </a:p>
        </p:txBody>
      </p:sp>
      <p:sp>
        <p:nvSpPr>
          <p:cNvPr id="1048681" name="Shape 5"/>
          <p:cNvSpPr/>
          <p:nvPr/>
        </p:nvSpPr>
        <p:spPr>
          <a:xfrm>
            <a:off x="6309360" y="14630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6B3F2A"/>
          </a:solidFill>
        </p:spPr>
      </p:sp>
      <p:sp>
        <p:nvSpPr>
          <p:cNvPr id="1048682" name="Text 6"/>
          <p:cNvSpPr/>
          <p:nvPr/>
        </p:nvSpPr>
        <p:spPr>
          <a:xfrm>
            <a:off x="6583680" y="1645920"/>
            <a:ext cx="45720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/ Negara</a:t>
            </a:r>
            <a:endParaRPr dirty="0" sz="1500" lang="en-US"/>
          </a:p>
        </p:txBody>
      </p:sp>
      <p:sp>
        <p:nvSpPr>
          <p:cNvPr id="1048683" name="Text 7"/>
          <p:cNvSpPr/>
          <p:nvPr/>
        </p:nvSpPr>
        <p:spPr>
          <a:xfrm>
            <a:off x="6583680" y="2057400"/>
            <a:ext cx="4846320" cy="1463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Memperoleh legitimasi formal melalui izin konsesi yang dikeluarkan negara, meski lahan berstatus sengketa</a:t>
            </a:r>
            <a:endParaRPr dirty="0" sz="1350" lang="en-US"/>
          </a:p>
        </p:txBody>
      </p:sp>
      <p:sp>
        <p:nvSpPr>
          <p:cNvPr id="1048684" name="Shape 8"/>
          <p:cNvSpPr/>
          <p:nvPr/>
        </p:nvSpPr>
        <p:spPr>
          <a:xfrm>
            <a:off x="548640" y="3886200"/>
            <a:ext cx="11109960" cy="2331720"/>
          </a:xfrm>
          <a:prstGeom prst="roundRect">
            <a:avLst>
              <a:gd name="adj" fmla="val 3922"/>
            </a:avLst>
          </a:prstGeom>
          <a:solidFill>
            <a:srgbClr val="F3F1E4"/>
          </a:solidFill>
        </p:spPr>
      </p:sp>
      <p:sp>
        <p:nvSpPr>
          <p:cNvPr id="1048685" name="Shape 9"/>
          <p:cNvSpPr/>
          <p:nvPr/>
        </p:nvSpPr>
        <p:spPr>
          <a:xfrm>
            <a:off x="548640" y="3886200"/>
            <a:ext cx="109728" cy="2331720"/>
          </a:xfrm>
          <a:prstGeom prst="rect"/>
          <a:solidFill>
            <a:srgbClr val="C97B3F"/>
          </a:solidFill>
        </p:spPr>
      </p:sp>
      <p:sp>
        <p:nvSpPr>
          <p:cNvPr id="1048686" name="Text 10"/>
          <p:cNvSpPr/>
          <p:nvPr/>
        </p:nvSpPr>
        <p:spPr>
          <a:xfrm>
            <a:off x="914400" y="4069080"/>
            <a:ext cx="103327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 lingkungan &amp; sosial:</a:t>
            </a:r>
            <a:endParaRPr dirty="0" sz="1400" lang="en-US"/>
          </a:p>
        </p:txBody>
      </p:sp>
      <p:sp>
        <p:nvSpPr>
          <p:cNvPr id="1048687" name="Text 11"/>
          <p:cNvSpPr/>
          <p:nvPr/>
        </p:nvSpPr>
        <p:spPr>
          <a:xfrm>
            <a:off x="914400" y="4480560"/>
            <a:ext cx="10332720" cy="1645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Ketimpangan status hukum ini memperbesar risiko degradasi lahan, deforestasi, dan hilangnya sistem pengelolaan lahan tradisional yang selama ini menjaga keseimbangan ekologi lokal — sejalan dengan konsep keberlanjutan lingkungan dalam Ilmu Pertanian.</a:t>
            </a:r>
            <a:endParaRPr dirty="0" sz="1350" lang="en-US"/>
          </a:p>
        </p:txBody>
      </p:sp>
      <p:sp>
        <p:nvSpPr>
          <p:cNvPr id="1048688" name="Text 12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dirty="0" sz="10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Shape 0"/>
          <p:cNvSpPr/>
          <p:nvPr/>
        </p:nvSpPr>
        <p:spPr>
          <a:xfrm>
            <a:off x="0" y="0"/>
            <a:ext cx="12188952" cy="1051560"/>
          </a:xfrm>
          <a:prstGeom prst="rect"/>
          <a:solidFill>
            <a:srgbClr val="6B3F2A"/>
          </a:solidFill>
        </p:spPr>
      </p:sp>
      <p:sp>
        <p:nvSpPr>
          <p:cNvPr id="1048693" name="Text 1"/>
          <p:cNvSpPr/>
          <p:nvPr/>
        </p:nvSpPr>
        <p:spPr>
          <a:xfrm>
            <a:off x="548640" y="182880"/>
            <a:ext cx="109728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7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3 — Peran Ambivalen Pemerintah Daerah</a:t>
            </a:r>
            <a:endParaRPr dirty="0" sz="2700" lang="en-US"/>
          </a:p>
        </p:txBody>
      </p:sp>
      <p:sp>
        <p:nvSpPr>
          <p:cNvPr id="1048694" name="Shape 2"/>
          <p:cNvSpPr/>
          <p:nvPr/>
        </p:nvSpPr>
        <p:spPr>
          <a:xfrm>
            <a:off x="548640" y="201168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7E8D1"/>
          </a:solidFill>
        </p:spPr>
      </p:sp>
      <p:sp>
        <p:nvSpPr>
          <p:cNvPr id="1048695" name="Text 3"/>
          <p:cNvSpPr/>
          <p:nvPr/>
        </p:nvSpPr>
        <p:spPr>
          <a:xfrm>
            <a:off x="685800" y="2194560"/>
            <a:ext cx="2240280" cy="23774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daerah</a:t>
            </a:r>
            <a:endParaRPr dirty="0" sz="1250" lang="en-US"/>
          </a:p>
          <a:p>
            <a:pPr algn="ctr" indent="0" marL="0">
              <a:buNone/>
            </a:pPr>
            <a:r>
              <a:rPr dirty="0" sz="12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beririsan dengan kepentingan ekonomi lokal</a:t>
            </a:r>
            <a:endParaRPr dirty="0" sz="1250" lang="en-US"/>
          </a:p>
        </p:txBody>
      </p:sp>
      <p:sp>
        <p:nvSpPr>
          <p:cNvPr id="1048696" name="Text 4"/>
          <p:cNvSpPr/>
          <p:nvPr/>
        </p:nvSpPr>
        <p:spPr>
          <a:xfrm>
            <a:off x="3063240" y="3291840"/>
            <a:ext cx="50292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6B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2600" lang="en-US"/>
          </a:p>
        </p:txBody>
      </p:sp>
      <p:sp>
        <p:nvSpPr>
          <p:cNvPr id="1048697" name="Shape 5"/>
          <p:cNvSpPr/>
          <p:nvPr/>
        </p:nvSpPr>
        <p:spPr>
          <a:xfrm>
            <a:off x="3566160" y="201168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7E8D1"/>
          </a:solidFill>
        </p:spPr>
      </p:sp>
      <p:sp>
        <p:nvSpPr>
          <p:cNvPr id="1048698" name="Text 6"/>
          <p:cNvSpPr/>
          <p:nvPr/>
        </p:nvSpPr>
        <p:spPr>
          <a:xfrm>
            <a:off x="3703320" y="2194560"/>
            <a:ext cx="2240280" cy="23774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patronase</a:t>
            </a:r>
            <a:endParaRPr dirty="0" sz="1250" lang="en-US"/>
          </a:p>
          <a:p>
            <a:pPr algn="ctr" indent="0" marL="0">
              <a:buNone/>
            </a:pPr>
            <a:r>
              <a:rPr dirty="0" sz="12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politik ikut memengaruhi keputusan</a:t>
            </a:r>
            <a:endParaRPr dirty="0" sz="1250" lang="en-US"/>
          </a:p>
        </p:txBody>
      </p:sp>
      <p:sp>
        <p:nvSpPr>
          <p:cNvPr id="1048699" name="Text 7"/>
          <p:cNvSpPr/>
          <p:nvPr/>
        </p:nvSpPr>
        <p:spPr>
          <a:xfrm>
            <a:off x="6080760" y="3291840"/>
            <a:ext cx="50292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6B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2600" lang="en-US"/>
          </a:p>
        </p:txBody>
      </p:sp>
      <p:sp>
        <p:nvSpPr>
          <p:cNvPr id="1048700" name="Shape 8"/>
          <p:cNvSpPr/>
          <p:nvPr/>
        </p:nvSpPr>
        <p:spPr>
          <a:xfrm>
            <a:off x="6583680" y="201168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7E8D1"/>
          </a:solidFill>
        </p:spPr>
      </p:sp>
      <p:sp>
        <p:nvSpPr>
          <p:cNvPr id="1048701" name="Text 9"/>
          <p:cNvSpPr/>
          <p:nvPr/>
        </p:nvSpPr>
        <p:spPr>
          <a:xfrm>
            <a:off x="6720840" y="2194560"/>
            <a:ext cx="2240280" cy="23774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Penyelesaian konflik</a:t>
            </a:r>
            <a:endParaRPr dirty="0" sz="1250" lang="en-US"/>
          </a:p>
          <a:p>
            <a:pPr algn="ctr" indent="0" marL="0">
              <a:buNone/>
            </a:pPr>
            <a:r>
              <a:rPr dirty="0" sz="125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prosedural</a:t>
            </a:r>
            <a:endParaRPr dirty="0" sz="1250" lang="en-US"/>
          </a:p>
        </p:txBody>
      </p:sp>
      <p:sp>
        <p:nvSpPr>
          <p:cNvPr id="1048702" name="Text 10"/>
          <p:cNvSpPr/>
          <p:nvPr/>
        </p:nvSpPr>
        <p:spPr>
          <a:xfrm>
            <a:off x="9098280" y="3291840"/>
            <a:ext cx="50292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6B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2600" lang="en-US"/>
          </a:p>
        </p:txBody>
      </p:sp>
      <p:sp>
        <p:nvSpPr>
          <p:cNvPr id="1048703" name="Shape 11"/>
          <p:cNvSpPr/>
          <p:nvPr/>
        </p:nvSpPr>
        <p:spPr>
          <a:xfrm>
            <a:off x="9601200" y="201168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C97B3F"/>
          </a:solidFill>
        </p:spPr>
      </p:sp>
      <p:sp>
        <p:nvSpPr>
          <p:cNvPr id="1048704" name="Text 12"/>
          <p:cNvSpPr/>
          <p:nvPr/>
        </p:nvSpPr>
        <p:spPr>
          <a:xfrm>
            <a:off x="9738360" y="2194560"/>
            <a:ext cx="2240280" cy="23774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 struktural</a:t>
            </a:r>
            <a:endParaRPr dirty="0" sz="1250" lang="en-US"/>
          </a:p>
          <a:p>
            <a:pPr algn="ctr" indent="0" marL="0">
              <a:buNone/>
            </a:pPr>
            <a:r>
              <a:rPr b="1" dirty="0" sz="12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tersentuh</a:t>
            </a:r>
            <a:endParaRPr dirty="0" sz="1250" lang="en-US"/>
          </a:p>
        </p:txBody>
      </p:sp>
      <p:sp>
        <p:nvSpPr>
          <p:cNvPr id="1048705" name="Text 13"/>
          <p:cNvSpPr/>
          <p:nvPr/>
        </p:nvSpPr>
        <p:spPr>
          <a:xfrm>
            <a:off x="548640" y="5394960"/>
            <a:ext cx="1106424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i="1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daerah berperan strategis, namun keputusannya sering condong pada kepentingan ekonomi &amp; patronase politik, bukan keadilan agraria substantif.</a:t>
            </a:r>
            <a:endParaRPr dirty="0" sz="1350" lang="en-US"/>
          </a:p>
        </p:txBody>
      </p:sp>
      <p:sp>
        <p:nvSpPr>
          <p:cNvPr id="1048706" name="Text 14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dirty="0" sz="10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2416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ext 0"/>
          <p:cNvSpPr/>
          <p:nvPr/>
        </p:nvSpPr>
        <p:spPr>
          <a:xfrm>
            <a:off x="548640" y="365760"/>
            <a:ext cx="1005840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&amp; Rekomendasi</a:t>
            </a:r>
            <a:endParaRPr dirty="0" sz="3200" lang="en-US"/>
          </a:p>
        </p:txBody>
      </p:sp>
      <p:sp>
        <p:nvSpPr>
          <p:cNvPr id="1048711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6B3F2A"/>
          </a:solidFill>
        </p:spPr>
      </p:sp>
      <p:sp>
        <p:nvSpPr>
          <p:cNvPr id="1048712" name="Text 2"/>
          <p:cNvSpPr/>
          <p:nvPr/>
        </p:nvSpPr>
        <p:spPr>
          <a:xfrm>
            <a:off x="822960" y="1554480"/>
            <a:ext cx="4846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100">
                <a:solidFill>
                  <a:srgbClr val="C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dirty="0" sz="1400" lang="en-US"/>
          </a:p>
        </p:txBody>
      </p:sp>
      <p:sp>
        <p:nvSpPr>
          <p:cNvPr id="1048713" name="Text 3"/>
          <p:cNvSpPr/>
          <p:nvPr/>
        </p:nvSpPr>
        <p:spPr>
          <a:xfrm>
            <a:off x="822960" y="2011680"/>
            <a:ext cx="4846320" cy="393192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1200"/>
              </a:spcAft>
              <a:buSzPct val="100000"/>
              <a:buChar char="•"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 agraria sawit bersifat struktural, bukan insidental</a:t>
            </a:r>
            <a:endParaRPr dirty="0" sz="1350" lang="en-US"/>
          </a:p>
          <a:p>
            <a:pPr indent="-342900" marL="342900">
              <a:spcAft>
                <a:spcPts val="1200"/>
              </a:spcAft>
              <a:buSzPct val="100000"/>
              <a:buChar char="•"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Dipicu oleh tumpang tindih regulasi, ketidaksetaraan kuasa, dan ketidakpastian status tanah adat</a:t>
            </a:r>
            <a:endParaRPr dirty="0" sz="1350" lang="en-US"/>
          </a:p>
          <a:p>
            <a:pPr indent="-342900" marL="342900">
              <a:buSzPct val="100000"/>
              <a:buChar char="•"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kelola lingkungan &amp; agraria yang adil masih menjadi tantangan utama pembangunan perkebunan rakyat</a:t>
            </a:r>
            <a:endParaRPr dirty="0" sz="1350" lang="en-US"/>
          </a:p>
        </p:txBody>
      </p:sp>
      <p:sp>
        <p:nvSpPr>
          <p:cNvPr id="1048714" name="Shape 4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C97B3F"/>
          </a:solidFill>
        </p:spPr>
      </p:sp>
      <p:sp>
        <p:nvSpPr>
          <p:cNvPr id="1048715" name="Text 5"/>
          <p:cNvSpPr/>
          <p:nvPr/>
        </p:nvSpPr>
        <p:spPr>
          <a:xfrm>
            <a:off x="6537960" y="1554480"/>
            <a:ext cx="4846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100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dirty="0" sz="1400" lang="en-US"/>
          </a:p>
        </p:txBody>
      </p:sp>
      <p:sp>
        <p:nvSpPr>
          <p:cNvPr id="1048716" name="Text 6"/>
          <p:cNvSpPr/>
          <p:nvPr/>
        </p:nvSpPr>
        <p:spPr>
          <a:xfrm>
            <a:off x="6537960" y="2011680"/>
            <a:ext cx="4846320" cy="393192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1200"/>
              </a:spcAft>
              <a:buSzPct val="100000"/>
              <a:buChar char="•"/>
            </a:pPr>
            <a:r>
              <a:rPr dirty="0" sz="1350" lang="en-US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tata kelola agraria berbasis keadilan substantif</a:t>
            </a:r>
            <a:endParaRPr dirty="0" sz="1350" lang="en-US"/>
          </a:p>
          <a:p>
            <a:pPr indent="-342900" marL="342900">
              <a:spcAft>
                <a:spcPts val="1200"/>
              </a:spcAft>
              <a:buSzPct val="100000"/>
              <a:buChar char="•"/>
            </a:pPr>
            <a:r>
              <a:rPr dirty="0" sz="1350" lang="en-US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Penguatan pengakuan hak masyarakat adat atas tanah</a:t>
            </a:r>
            <a:endParaRPr dirty="0" sz="1350" lang="en-US"/>
          </a:p>
          <a:p>
            <a:pPr indent="-342900" marL="342900">
              <a:buSzPct val="100000"/>
              <a:buChar char="•"/>
            </a:pPr>
            <a:r>
              <a:rPr dirty="0" sz="1350" lang="en-US">
                <a:solidFill>
                  <a:srgbClr val="3E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penyelesaian konflik yang independen, inklusif, dan partisipatif</a:t>
            </a:r>
            <a:endParaRPr dirty="0" sz="1350" lang="en-US"/>
          </a:p>
        </p:txBody>
      </p:sp>
      <p:sp>
        <p:nvSpPr>
          <p:cNvPr id="1048717" name="Text 7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dirty="0" sz="10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Shape 0"/>
          <p:cNvSpPr/>
          <p:nvPr/>
        </p:nvSpPr>
        <p:spPr>
          <a:xfrm>
            <a:off x="0" y="0"/>
            <a:ext cx="12188952" cy="1051560"/>
          </a:xfrm>
          <a:prstGeom prst="rect"/>
          <a:solidFill>
            <a:srgbClr val="6B3F2A"/>
          </a:solidFill>
        </p:spPr>
      </p:sp>
      <p:sp>
        <p:nvSpPr>
          <p:cNvPr id="1048722" name="Text 1"/>
          <p:cNvSpPr/>
          <p:nvPr/>
        </p:nvSpPr>
        <p:spPr>
          <a:xfrm>
            <a:off x="548640" y="182880"/>
            <a:ext cx="10058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Pustaka / Sumber</a:t>
            </a:r>
            <a:endParaRPr dirty="0" sz="3000" lang="en-US"/>
          </a:p>
        </p:txBody>
      </p:sp>
      <p:sp>
        <p:nvSpPr>
          <p:cNvPr id="1048723" name="Text 2"/>
          <p:cNvSpPr/>
          <p:nvPr/>
        </p:nvSpPr>
        <p:spPr>
          <a:xfrm>
            <a:off x="640080" y="1463040"/>
            <a:ext cx="10881360" cy="475488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13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Rahmania, H., Luthfi, H. M., Hadinugroho, D. S., Nurdin, &amp; Jumaynah, F. (2025). Politik Agraria dan Konflik Perkebunan Sawit: Studi Kasus Perebutan Lahan di Kalimantan Barat. Jurnal ISO: Jurnal Ilmu Sosial, Politik dan Humaniora, 6(1), 10. https://doi.org/10.53697/iso.v6i1.3381</a:t>
            </a:r>
            <a:endParaRPr dirty="0" sz="13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13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McCarthy, J. F. (2010). Processes of inclusion and adverse incorporation: Oil palm and agrarian change in Sumatra, Indonesia. Journal of Peasant Studies, 37(4), 821–850.</a:t>
            </a:r>
            <a:endParaRPr dirty="0" sz="13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13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Peluso, N. L., &amp; Lund, C. (2011). New frontiers of land control: Introduction. Journal of Peasant Studies, 38(4), 667–681.</a:t>
            </a:r>
            <a:endParaRPr dirty="0" sz="13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13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Hall, D., Hirsch, P., &amp; Li, T. M. (2011). Powers of exclusion: Land dilemmas in Southeast Asia. University of Hawaii Press.</a:t>
            </a:r>
            <a:endParaRPr dirty="0" sz="1300" lang="en-US"/>
          </a:p>
          <a:p>
            <a:pPr indent="-342900" marL="342900">
              <a:buSzPct val="100000"/>
              <a:buChar char="•"/>
            </a:pPr>
            <a:r>
              <a:rPr dirty="0" sz="1300" lang="en-US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Konsorsium Pembaruan Agraria (KPA). (2023). Catatan Akhir Tahun KPA: Reforma Agraria dan Konflik Agraria di Indonesia 2023.</a:t>
            </a:r>
            <a:endParaRPr dirty="0" sz="1300" lang="en-US"/>
          </a:p>
        </p:txBody>
      </p:sp>
      <p:sp>
        <p:nvSpPr>
          <p:cNvPr id="1048724" name="Text 3"/>
          <p:cNvSpPr/>
          <p:nvPr/>
        </p:nvSpPr>
        <p:spPr>
          <a:xfrm>
            <a:off x="11430000" y="6537960"/>
            <a:ext cx="64008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dirty="0" sz="1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2026-09-19T07:53:41Z</dcterms:created>
  <dcterms:modified xsi:type="dcterms:W3CDTF">2026-09-20T13:54:17Z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f0144deb45754ff28ebb76c0a17c1a54_23</vt:lpwstr>
  </property>
</Properties>
</file>